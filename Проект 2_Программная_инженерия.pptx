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DC9CE-73EF-4152-9D9A-66EBB709D184}" v="6" dt="2026-06-16T14:28:22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Соловьев" userId="3880307c31b29da0" providerId="LiveId" clId="{94A3B0DD-9F3A-4CBF-9208-14CFCDF07CD5}"/>
    <pc:docChg chg="undo custSel delSld modSld modMainMaster">
      <pc:chgData name="Иван Соловьев" userId="3880307c31b29da0" providerId="LiveId" clId="{94A3B0DD-9F3A-4CBF-9208-14CFCDF07CD5}" dt="2026-06-16T15:02:10.178" v="717" actId="20577"/>
      <pc:docMkLst>
        <pc:docMk/>
      </pc:docMkLst>
      <pc:sldChg chg="delSp modSp mod setBg">
        <pc:chgData name="Иван Соловьев" userId="3880307c31b29da0" providerId="LiveId" clId="{94A3B0DD-9F3A-4CBF-9208-14CFCDF07CD5}" dt="2026-06-16T14:31:09.388" v="195" actId="20577"/>
        <pc:sldMkLst>
          <pc:docMk/>
          <pc:sldMk cId="0" sldId="256"/>
        </pc:sldMkLst>
        <pc:spChg chg="mod">
          <ac:chgData name="Иван Соловьев" userId="3880307c31b29da0" providerId="LiveId" clId="{94A3B0DD-9F3A-4CBF-9208-14CFCDF07CD5}" dt="2026-06-16T14:28:38.786" v="27" actId="20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28:29.223" v="26" actId="207"/>
          <ac:spMkLst>
            <pc:docMk/>
            <pc:sldMk cId="0" sldId="256"/>
            <ac:spMk id="12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58.027" v="11" actId="21"/>
          <ac:spMkLst>
            <pc:docMk/>
            <pc:sldMk cId="0" sldId="256"/>
            <ac:spMk id="13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1:04.138" v="189" actId="6549"/>
          <ac:spMkLst>
            <pc:docMk/>
            <pc:sldMk cId="0" sldId="256"/>
            <ac:spMk id="14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1:09.388" v="195" actId="20577"/>
          <ac:spMkLst>
            <pc:docMk/>
            <pc:sldMk cId="0" sldId="256"/>
            <ac:spMk id="15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16.940" v="0" actId="21"/>
          <ac:spMkLst>
            <pc:docMk/>
            <pc:sldMk cId="0" sldId="256"/>
            <ac:spMk id="17" creationId="{00000000-0000-0000-0000-000000000000}"/>
          </ac:spMkLst>
        </pc:spChg>
      </pc:sldChg>
      <pc:sldChg chg="delSp del mod">
        <pc:chgData name="Иван Соловьев" userId="3880307c31b29da0" providerId="LiveId" clId="{94A3B0DD-9F3A-4CBF-9208-14CFCDF07CD5}" dt="2026-06-16T14:03:50.159" v="10" actId="2696"/>
        <pc:sldMkLst>
          <pc:docMk/>
          <pc:sldMk cId="0" sldId="257"/>
        </pc:sldMkLst>
        <pc:spChg chg="del">
          <ac:chgData name="Иван Соловьев" userId="3880307c31b29da0" providerId="LiveId" clId="{94A3B0DD-9F3A-4CBF-9208-14CFCDF07CD5}" dt="2026-06-16T14:03:20.725" v="1" actId="21"/>
          <ac:spMkLst>
            <pc:docMk/>
            <pc:sldMk cId="0" sldId="257"/>
            <ac:spMk id="30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36:56.118" v="672" actId="20577"/>
        <pc:sldMkLst>
          <pc:docMk/>
          <pc:sldMk cId="0" sldId="258"/>
        </pc:sldMkLst>
        <pc:spChg chg="mod">
          <ac:chgData name="Иван Соловьев" userId="3880307c31b29da0" providerId="LiveId" clId="{94A3B0DD-9F3A-4CBF-9208-14CFCDF07CD5}" dt="2026-06-16T14:32:09.847" v="258" actId="20577"/>
          <ac:spMkLst>
            <pc:docMk/>
            <pc:sldMk cId="0" sldId="258"/>
            <ac:spMk id="33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4:01.415" v="12" actId="21"/>
          <ac:spMkLst>
            <pc:docMk/>
            <pc:sldMk cId="0" sldId="258"/>
            <ac:spMk id="34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3:39.641" v="482" actId="2057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6:56.118" v="672" actId="20577"/>
          <ac:spMkLst>
            <pc:docMk/>
            <pc:sldMk cId="0" sldId="258"/>
            <ac:spMk id="36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23.081" v="2" actId="21"/>
          <ac:spMkLst>
            <pc:docMk/>
            <pc:sldMk cId="0" sldId="258"/>
            <ac:spMk id="38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38:44.646" v="678" actId="790"/>
        <pc:sldMkLst>
          <pc:docMk/>
          <pc:sldMk cId="0" sldId="259"/>
        </pc:sldMkLst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39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0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1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21.891" v="13" actId="21"/>
          <ac:spMkLst>
            <pc:docMk/>
            <pc:sldMk cId="0" sldId="259"/>
            <ac:spMk id="42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3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4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5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6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44.646" v="678" actId="790"/>
          <ac:spMkLst>
            <pc:docMk/>
            <pc:sldMk cId="0" sldId="259"/>
            <ac:spMk id="47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25.230" v="3" actId="21"/>
          <ac:spMkLst>
            <pc:docMk/>
            <pc:sldMk cId="0" sldId="259"/>
            <ac:spMk id="49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38:33.893" v="677" actId="790"/>
        <pc:sldMkLst>
          <pc:docMk/>
          <pc:sldMk cId="0" sldId="260"/>
        </pc:sldMkLst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0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1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2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24.959" v="14" actId="21"/>
          <ac:spMkLst>
            <pc:docMk/>
            <pc:sldMk cId="0" sldId="260"/>
            <ac:spMk id="53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4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5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6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7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8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59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38:33.893" v="677" actId="790"/>
          <ac:spMkLst>
            <pc:docMk/>
            <pc:sldMk cId="0" sldId="260"/>
            <ac:spMk id="60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27.555" v="4" actId="21"/>
          <ac:spMkLst>
            <pc:docMk/>
            <pc:sldMk cId="0" sldId="260"/>
            <ac:spMk id="61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38:51.787" v="679" actId="207"/>
        <pc:sldMkLst>
          <pc:docMk/>
          <pc:sldMk cId="0" sldId="261"/>
        </pc:sldMkLst>
        <pc:spChg chg="mod">
          <ac:chgData name="Иван Соловьев" userId="3880307c31b29da0" providerId="LiveId" clId="{94A3B0DD-9F3A-4CBF-9208-14CFCDF07CD5}" dt="2026-06-16T14:38:51.787" v="679" actId="207"/>
          <ac:spMkLst>
            <pc:docMk/>
            <pc:sldMk cId="0" sldId="261"/>
            <ac:spMk id="63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27.405" v="15" actId="21"/>
          <ac:spMkLst>
            <pc:docMk/>
            <pc:sldMk cId="0" sldId="261"/>
            <ac:spMk id="65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29.890" v="5" actId="21"/>
          <ac:spMkLst>
            <pc:docMk/>
            <pc:sldMk cId="0" sldId="261"/>
            <ac:spMk id="69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50:31.026" v="688" actId="790"/>
        <pc:sldMkLst>
          <pc:docMk/>
          <pc:sldMk cId="0" sldId="262"/>
        </pc:sldMkLst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1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2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3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29.275" v="16" actId="21"/>
          <ac:spMkLst>
            <pc:docMk/>
            <pc:sldMk cId="0" sldId="262"/>
            <ac:spMk id="74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6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7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8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1.026" v="688" actId="790"/>
          <ac:spMkLst>
            <pc:docMk/>
            <pc:sldMk cId="0" sldId="262"/>
            <ac:spMk id="79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31.838" v="6" actId="21"/>
          <ac:spMkLst>
            <pc:docMk/>
            <pc:sldMk cId="0" sldId="262"/>
            <ac:spMk id="80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50:35.157" v="689" actId="790"/>
        <pc:sldMkLst>
          <pc:docMk/>
          <pc:sldMk cId="0" sldId="263"/>
        </pc:sldMkLst>
        <pc:spChg chg="mod">
          <ac:chgData name="Иван Соловьев" userId="3880307c31b29da0" providerId="LiveId" clId="{94A3B0DD-9F3A-4CBF-9208-14CFCDF07CD5}" dt="2026-06-16T14:50:35.157" v="689" actId="790"/>
          <ac:spMkLst>
            <pc:docMk/>
            <pc:sldMk cId="0" sldId="263"/>
            <ac:spMk id="81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5.157" v="689" actId="790"/>
          <ac:spMkLst>
            <pc:docMk/>
            <pc:sldMk cId="0" sldId="263"/>
            <ac:spMk id="82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5.157" v="689" actId="790"/>
          <ac:spMkLst>
            <pc:docMk/>
            <pc:sldMk cId="0" sldId="263"/>
            <ac:spMk id="83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30.890" v="17" actId="21"/>
          <ac:spMkLst>
            <pc:docMk/>
            <pc:sldMk cId="0" sldId="263"/>
            <ac:spMk id="84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5.157" v="689" actId="790"/>
          <ac:spMkLst>
            <pc:docMk/>
            <pc:sldMk cId="0" sldId="263"/>
            <ac:spMk id="85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5.157" v="689" actId="790"/>
          <ac:spMkLst>
            <pc:docMk/>
            <pc:sldMk cId="0" sldId="263"/>
            <ac:spMk id="86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35.157" v="689" actId="790"/>
          <ac:spMkLst>
            <pc:docMk/>
            <pc:sldMk cId="0" sldId="263"/>
            <ac:spMk id="87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33.938" v="7" actId="21"/>
          <ac:spMkLst>
            <pc:docMk/>
            <pc:sldMk cId="0" sldId="263"/>
            <ac:spMk id="91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5:02:10.178" v="717" actId="20577"/>
        <pc:sldMkLst>
          <pc:docMk/>
          <pc:sldMk cId="0" sldId="264"/>
        </pc:sldMkLst>
        <pc:spChg chg="mod">
          <ac:chgData name="Иван Соловьев" userId="3880307c31b29da0" providerId="LiveId" clId="{94A3B0DD-9F3A-4CBF-9208-14CFCDF07CD5}" dt="2026-06-16T14:50:44.713" v="690" actId="790"/>
          <ac:spMkLst>
            <pc:docMk/>
            <pc:sldMk cId="0" sldId="264"/>
            <ac:spMk id="92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44.713" v="690" actId="790"/>
          <ac:spMkLst>
            <pc:docMk/>
            <pc:sldMk cId="0" sldId="264"/>
            <ac:spMk id="93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5:02:04.568" v="716" actId="20577"/>
          <ac:spMkLst>
            <pc:docMk/>
            <pc:sldMk cId="0" sldId="264"/>
            <ac:spMk id="94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32.898" v="18" actId="21"/>
          <ac:spMkLst>
            <pc:docMk/>
            <pc:sldMk cId="0" sldId="264"/>
            <ac:spMk id="95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5:02:10.178" v="717" actId="20577"/>
          <ac:spMkLst>
            <pc:docMk/>
            <pc:sldMk cId="0" sldId="264"/>
            <ac:spMk id="96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44.713" v="690" actId="790"/>
          <ac:spMkLst>
            <pc:docMk/>
            <pc:sldMk cId="0" sldId="264"/>
            <ac:spMk id="97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44.713" v="690" actId="790"/>
          <ac:spMkLst>
            <pc:docMk/>
            <pc:sldMk cId="0" sldId="264"/>
            <ac:spMk id="98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36.175" v="8" actId="21"/>
          <ac:spMkLst>
            <pc:docMk/>
            <pc:sldMk cId="0" sldId="264"/>
            <ac:spMk id="99" creationId="{00000000-0000-0000-0000-000000000000}"/>
          </ac:spMkLst>
        </pc:spChg>
      </pc:sldChg>
      <pc:sldChg chg="delSp modSp mod setBg">
        <pc:chgData name="Иван Соловьев" userId="3880307c31b29da0" providerId="LiveId" clId="{94A3B0DD-9F3A-4CBF-9208-14CFCDF07CD5}" dt="2026-06-16T14:50:15.796" v="687" actId="790"/>
        <pc:sldMkLst>
          <pc:docMk/>
          <pc:sldMk cId="0" sldId="265"/>
        </pc:sldMkLst>
        <pc:spChg chg="mod">
          <ac:chgData name="Иван Соловьев" userId="3880307c31b29da0" providerId="LiveId" clId="{94A3B0DD-9F3A-4CBF-9208-14CFCDF07CD5}" dt="2026-06-16T14:50:15.796" v="687" actId="790"/>
          <ac:spMkLst>
            <pc:docMk/>
            <pc:sldMk cId="0" sldId="265"/>
            <ac:spMk id="100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15.796" v="687" actId="790"/>
          <ac:spMkLst>
            <pc:docMk/>
            <pc:sldMk cId="0" sldId="265"/>
            <ac:spMk id="101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15.796" v="687" actId="790"/>
          <ac:spMkLst>
            <pc:docMk/>
            <pc:sldMk cId="0" sldId="265"/>
            <ac:spMk id="102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5:34.809" v="19" actId="21"/>
          <ac:spMkLst>
            <pc:docMk/>
            <pc:sldMk cId="0" sldId="265"/>
            <ac:spMk id="103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15.796" v="687" actId="790"/>
          <ac:spMkLst>
            <pc:docMk/>
            <pc:sldMk cId="0" sldId="265"/>
            <ac:spMk id="104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4:03:38.114" v="9" actId="21"/>
          <ac:spMkLst>
            <pc:docMk/>
            <pc:sldMk cId="0" sldId="265"/>
            <ac:spMk id="105" creationId="{00000000-0000-0000-0000-000000000000}"/>
          </ac:spMkLst>
        </pc:spChg>
        <pc:spChg chg="mod">
          <ac:chgData name="Иван Соловьев" userId="3880307c31b29da0" providerId="LiveId" clId="{94A3B0DD-9F3A-4CBF-9208-14CFCDF07CD5}" dt="2026-06-16T14:50:15.796" v="687" actId="790"/>
          <ac:spMkLst>
            <pc:docMk/>
            <pc:sldMk cId="0" sldId="265"/>
            <ac:spMk id="106" creationId="{00000000-0000-0000-0000-000000000000}"/>
          </ac:spMkLst>
        </pc:spChg>
      </pc:sldChg>
      <pc:sldMasterChg chg="setBg modSldLayout">
        <pc:chgData name="Иван Соловьев" userId="3880307c31b29da0" providerId="LiveId" clId="{94A3B0DD-9F3A-4CBF-9208-14CFCDF07CD5}" dt="2026-06-16T14:28:22.317" v="25"/>
        <pc:sldMasterMkLst>
          <pc:docMk/>
          <pc:sldMasterMk cId="0" sldId="2147483648"/>
        </pc:sldMasterMkLst>
        <pc:sldLayoutChg chg="setBg">
          <pc:chgData name="Иван Соловьев" userId="3880307c31b29da0" providerId="LiveId" clId="{94A3B0DD-9F3A-4CBF-9208-14CFCDF07CD5}" dt="2026-06-16T14:28:22.317" v="25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B0A472-0F0B-4697-94FC-34C9716D358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F795E4-5EC2-4B64-8B6E-3BF09C6706A1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E621F7-DF3B-497A-B4D5-0D16947E8525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5D6A15-4919-47AA-8537-3E5F62D3A72B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82EDB3-56CF-4603-9A18-E1696F0C1766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15314E-51D6-4642-936E-871743359A33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51BD31-860E-4AA0-A595-4180697AFE0E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9A2B34-B9C2-434E-91C7-F70C33333577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757775-9992-4B2B-9EF5-E884E4235D19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49AB84-0B49-4649-BD66-F5EA42900937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effectLst/>
                <a:uFillTx/>
                <a:latin typeface="Arial"/>
                <a:ea typeface="Arial"/>
              </a:rPr>
              <a:t>БИТВА НА СЕТКЕ</a:t>
            </a:r>
            <a:endParaRPr lang="ru-RU" sz="27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0" u="none" strike="noStrike" dirty="0">
                <a:effectLst/>
                <a:uFillTx/>
                <a:latin typeface="Arial"/>
                <a:ea typeface="Arial"/>
              </a:rPr>
              <a:t>Проект 2 по дисциплине «Программная инженерия»</a:t>
            </a:r>
            <a:endParaRPr lang="ru-RU" sz="125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67000" y="1325880"/>
            <a:ext cx="48441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0" u="none" strike="noStrike" dirty="0">
                <a:effectLst/>
                <a:uFillTx/>
                <a:latin typeface="Arial"/>
                <a:ea typeface="Arial"/>
              </a:rPr>
              <a:t>Пошаговая игра </a:t>
            </a:r>
            <a:r>
              <a:rPr lang="ru-RU" dirty="0">
                <a:latin typeface="Arial"/>
                <a:ea typeface="Arial"/>
              </a:rPr>
              <a:t>для двух игроков на одном устройстве</a:t>
            </a:r>
            <a:r>
              <a:rPr lang="en-US" sz="1800" b="0" u="none" strike="noStrike" dirty="0">
                <a:effectLst/>
                <a:uFillTx/>
                <a:latin typeface="Arial"/>
                <a:ea typeface="Arial"/>
              </a:rPr>
              <a:t>.</a:t>
            </a:r>
            <a:endParaRPr lang="ru-RU" sz="18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01920" y="2340000"/>
            <a:ext cx="1918080" cy="2174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effectLst/>
                <a:uFillTx/>
                <a:latin typeface="Arial"/>
                <a:ea typeface="Arial"/>
              </a:rPr>
              <a:t>GUI </a:t>
            </a:r>
            <a:r>
              <a:rPr lang="ru-RU" sz="1250" b="1" dirty="0">
                <a:latin typeface="Arial"/>
                <a:ea typeface="Arial"/>
              </a:rPr>
              <a:t>на</a:t>
            </a:r>
            <a:r>
              <a:rPr lang="en-US" sz="1250" b="1" u="none" strike="noStrike" dirty="0">
                <a:effectLst/>
                <a:uFillTx/>
                <a:latin typeface="Arial"/>
                <a:ea typeface="Arial"/>
              </a:rPr>
              <a:t> Python + </a:t>
            </a:r>
            <a:r>
              <a:rPr lang="en-US" sz="1250" b="1" u="none" strike="noStrike" dirty="0" err="1">
                <a:effectLst/>
                <a:uFillTx/>
                <a:latin typeface="Arial"/>
                <a:ea typeface="Arial"/>
              </a:rPr>
              <a:t>Tkinter</a:t>
            </a:r>
            <a:endParaRPr lang="ru-RU" sz="1250" b="0" u="none" strike="noStrike" dirty="0">
              <a:effectLst/>
              <a:uFillTx/>
              <a:latin typeface="Arial"/>
            </a:endParaRPr>
          </a:p>
        </p:txBody>
      </p:sp>
      <p:pic>
        <p:nvPicPr>
          <p:cNvPr id="16" name="Image 0" descr="/mnt/data/pres_assets/crop_attack.png"/>
          <p:cNvPicPr/>
          <p:nvPr/>
        </p:nvPicPr>
        <p:blipFill>
          <a:blip r:embed="rId3"/>
          <a:stretch/>
        </p:blipFill>
        <p:spPr>
          <a:xfrm>
            <a:off x="5943600" y="1315800"/>
            <a:ext cx="5575680" cy="4955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dirty="0">
                <a:effectLst/>
                <a:uFillTx/>
                <a:latin typeface="Arial"/>
                <a:ea typeface="Arial"/>
              </a:rPr>
              <a:t>Цель</a:t>
            </a:r>
            <a:r>
              <a:rPr lang="en-US" sz="2700" b="1" u="none" strike="noStrike" dirty="0">
                <a:effectLst/>
                <a:uFillTx/>
                <a:latin typeface="Arial"/>
                <a:ea typeface="Arial"/>
              </a:rPr>
              <a:t> и </a:t>
            </a:r>
            <a:r>
              <a:rPr lang="ru-RU" sz="2700" b="1" u="none" strike="noStrike" dirty="0">
                <a:effectLst/>
                <a:uFillTx/>
                <a:latin typeface="Arial"/>
                <a:ea typeface="Arial"/>
              </a:rPr>
              <a:t>актуальность</a:t>
            </a:r>
            <a:r>
              <a:rPr lang="en-US" sz="2700" b="1" u="none" strike="noStrike" dirty="0">
                <a:effectLst/>
                <a:uFillTx/>
                <a:latin typeface="Arial"/>
                <a:ea typeface="Arial"/>
              </a:rPr>
              <a:t> проекта</a:t>
            </a:r>
            <a:endParaRPr lang="ru-RU" sz="27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567000" y="1325880"/>
            <a:ext cx="5392800" cy="155232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Цель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Разработать пошаговую игру для двух игроков</a:t>
            </a: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 с </a:t>
            </a:r>
            <a:r>
              <a:rPr lang="ru-RU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графическим интерфейсом </a:t>
            </a: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и </a:t>
            </a:r>
            <a:r>
              <a:rPr lang="ru-RU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тактическими элементами</a:t>
            </a: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ru-RU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перемещение</a:t>
            </a: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ru-RU" sz="1600" dirty="0">
                <a:solidFill>
                  <a:schemeClr val="bg1"/>
                </a:solidFill>
                <a:latin typeface="Arial"/>
                <a:ea typeface="Arial"/>
              </a:rPr>
              <a:t>атака</a:t>
            </a: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ru-RU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телепорты</a:t>
            </a: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ru-RU" sz="16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567000" y="3063240"/>
            <a:ext cx="5392800" cy="260388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dirty="0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Почему проект актуален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ru-RU" sz="1400" dirty="0">
                <a:solidFill>
                  <a:schemeClr val="bg1"/>
                </a:solidFill>
                <a:latin typeface="Arial"/>
                <a:ea typeface="Arial"/>
              </a:rPr>
              <a:t>простая цифровая трафика</a:t>
            </a:r>
            <a:r>
              <a:rPr lang="en-US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без перегруженных правил.</a:t>
            </a:r>
            <a:endParaRPr lang="ru-RU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ru-RU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быстрая партия для совместного досуга.</a:t>
            </a:r>
            <a:endParaRPr lang="ru-RU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ru-RU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демонстрация</a:t>
            </a:r>
            <a:r>
              <a:rPr lang="en-US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 ООП, GUI и </a:t>
            </a:r>
            <a:r>
              <a:rPr lang="ru-RU" sz="1400" b="0" u="none" strike="noStrike" dirty="0">
                <a:solidFill>
                  <a:schemeClr val="bg1"/>
                </a:solidFill>
                <a:effectLst/>
                <a:uFillTx/>
                <a:latin typeface="Arial"/>
                <a:ea typeface="Arial"/>
              </a:rPr>
              <a:t>событийной модели.</a:t>
            </a:r>
            <a:endParaRPr lang="ru-RU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/mnt/data/pres_assets/crop_game.png"/>
          <p:cNvPicPr/>
          <p:nvPr/>
        </p:nvPicPr>
        <p:blipFill>
          <a:blip r:embed="rId3"/>
          <a:stretch/>
        </p:blipFill>
        <p:spPr>
          <a:xfrm>
            <a:off x="7020000" y="1440000"/>
            <a:ext cx="3240000" cy="414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noProof="1">
                <a:effectLst/>
                <a:uFillTx/>
                <a:latin typeface="Arial"/>
                <a:ea typeface="Arial"/>
              </a:rPr>
              <a:t>Функциональные требования</a:t>
            </a:r>
            <a:endParaRPr lang="ru-RU" sz="270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0" u="none" strike="noStrike" noProof="1">
                <a:effectLst/>
                <a:uFillTx/>
                <a:latin typeface="Arial"/>
                <a:ea typeface="Arial"/>
              </a:rPr>
              <a:t>Ключевые функции игры</a:t>
            </a:r>
            <a:endParaRPr lang="ru-RU" sz="125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640080" y="135324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T1–T2 · Настройка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Размер поля 3–12, ввод имени, атаки и HP для каждого игрока.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640080" y="230436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T3 · Старт партии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Игроки ставятся на разные клетки, создаются 3 телепорта.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640080" y="325512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T4–T6 · Игровой ход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Доступно только соседнее перемещение; атака возможна лишь при соседстве.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640080" y="420624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T7–T8 · Состояние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Подсчёт HP, победитель, цветной журнал всех действий.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40080" y="5157360"/>
            <a:ext cx="5301360" cy="80244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T9–T10 · Интерфейс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Подсветка действий на поле и кнопка новой игры в любой момент.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0" descr="/mnt/data/pres_assets/crop_attack.png"/>
          <p:cNvPicPr/>
          <p:nvPr/>
        </p:nvPicPr>
        <p:blipFill>
          <a:blip r:embed="rId3"/>
          <a:stretch/>
        </p:blipFill>
        <p:spPr>
          <a:xfrm>
            <a:off x="6355080" y="1569600"/>
            <a:ext cx="4798440" cy="4264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noProof="1">
                <a:effectLst/>
                <a:uFillTx/>
                <a:latin typeface="Arial"/>
                <a:ea typeface="Arial"/>
              </a:rPr>
              <a:t>Нефункциональные требования и технологии</a:t>
            </a:r>
            <a:endParaRPr lang="ru-RU" sz="270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25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25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0" u="none" strike="noStrike" noProof="1">
                <a:effectLst/>
                <a:uFillTx/>
                <a:latin typeface="Arial"/>
                <a:ea typeface="Arial"/>
              </a:rPr>
              <a:t>Почему выбраны Python и Tkinter</a:t>
            </a:r>
            <a:endParaRPr lang="ru-RU" sz="125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" y="1353240"/>
            <a:ext cx="5392800" cy="452412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Нефункциональные требования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запуск без дополнительных библиотек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интуитивный интерфейс с легендой и подсказками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быстрый отклик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подстройка окна под поле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модульная структура кода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устойчивость к некорректному вводу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355080" y="1417320"/>
            <a:ext cx="164376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Python 3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простота и кроссплатформенность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8092440" y="1417320"/>
            <a:ext cx="164376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Tkinter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встроенный GUI без внешних зависимостей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9829800" y="1417320"/>
            <a:ext cx="164376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random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случайные стартовые позиции и телепорты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6355080" y="2880360"/>
            <a:ext cx="246672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messagebox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показывает победителя стандартными средствами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9006840" y="2880360"/>
            <a:ext cx="2265480" cy="123228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Text + tags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цветной журнал событий без сторонних виджетов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6400800" y="4663440"/>
            <a:ext cx="479844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600" b="0" u="none" strike="noStrike" noProof="1">
                <a:effectLst/>
                <a:uFillTx/>
                <a:latin typeface="Arial"/>
                <a:ea typeface="Arial"/>
              </a:rPr>
              <a:t>Выбор технологий напрямую поддерживает ограничение проекта: полноценный GUI на стандартных средствах Python.</a:t>
            </a:r>
            <a:endParaRPr lang="ru-RU" sz="1600" b="0" u="none" strike="noStrike" noProof="1"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 dirty="0">
                <a:effectLst/>
                <a:uFillTx/>
                <a:latin typeface="Arial"/>
              </a:rPr>
              <a:t>Реализация: диаграмма классов и структура кода</a:t>
            </a:r>
            <a:endParaRPr lang="ru-RU" sz="24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8AECC"/>
                </a:solidFill>
                <a:effectLst/>
                <a:uFillTx/>
                <a:latin typeface="Arial"/>
                <a:ea typeface="Arial"/>
              </a:rPr>
              <a:t>Этап разработчика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6850440" y="1353240"/>
            <a:ext cx="2329560" cy="1506600"/>
          </a:xfrm>
          <a:prstGeom prst="rect">
            <a:avLst/>
          </a:prstGeom>
          <a:solidFill>
            <a:srgbClr val="232745"/>
          </a:solidFill>
          <a:ln w="12700">
            <a:solidFill>
              <a:srgbClr val="3A3F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1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GameState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2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SetupScreen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3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GameScreen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292A2"/>
                </a:solidFill>
                <a:effectLst/>
                <a:uFillTx/>
                <a:latin typeface="Consolas"/>
                <a:ea typeface="Consolas"/>
              </a:rPr>
              <a:t>4 </a:t>
            </a:r>
            <a:r>
              <a:rPr lang="en-US" sz="1400" b="0" u="none" strike="noStrike">
                <a:solidFill>
                  <a:srgbClr val="66D9EF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App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9360000" y="1361160"/>
            <a:ext cx="2558160" cy="150660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Классы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логика партии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экран настройки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игровой экран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переключение сцен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941520" y="3200400"/>
            <a:ext cx="5118480" cy="246672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Что реализовано в GUI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экран настройки с параметрами поля и игроков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игровое поле с подсветкой действий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карточки HP/атаки, легенда и журнал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• кнопка новой игры без перезапуска приложения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58" descr="class_diagram_battle_grid.png"/>
          <p:cNvPicPr/>
          <p:nvPr/>
        </p:nvPicPr>
        <p:blipFill>
          <a:blip r:embed="rId3"/>
          <a:stretch/>
        </p:blipFill>
        <p:spPr>
          <a:xfrm>
            <a:off x="720000" y="1260000"/>
            <a:ext cx="5220000" cy="468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noProof="1">
                <a:effectLst/>
                <a:uFillTx/>
                <a:latin typeface="Arial"/>
                <a:ea typeface="Arial"/>
              </a:rPr>
              <a:t>Реализация: игровая механика</a:t>
            </a:r>
            <a:endParaRPr lang="ru-RU" sz="270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0" u="none" strike="noStrike" noProof="1">
                <a:effectLst/>
                <a:uFillTx/>
                <a:latin typeface="Arial"/>
                <a:ea typeface="Arial"/>
              </a:rPr>
              <a:t>Как выглядит готовая партия</a:t>
            </a:r>
            <a:endParaRPr lang="ru-RU" sz="1250" b="0" u="none" strike="noStrike" noProof="1">
              <a:effectLst/>
              <a:uFillTx/>
              <a:latin typeface="Arial"/>
            </a:endParaRPr>
          </a:p>
        </p:txBody>
      </p:sp>
      <p:pic>
        <p:nvPicPr>
          <p:cNvPr id="75" name="Image 0" descr="/mnt/data/pres_assets/crop_attack.png"/>
          <p:cNvPicPr/>
          <p:nvPr/>
        </p:nvPicPr>
        <p:blipFill>
          <a:blip r:embed="rId3"/>
          <a:stretch/>
        </p:blipFill>
        <p:spPr>
          <a:xfrm>
            <a:off x="983160" y="1280160"/>
            <a:ext cx="5758560" cy="511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4"/>
          <p:cNvSpPr/>
          <p:nvPr/>
        </p:nvSpPr>
        <p:spPr>
          <a:xfrm>
            <a:off x="7452360" y="141732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1. Ход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Игрок выбирает только соседнюю свободную клетку.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452360" y="257868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2. Атака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Красная клетка активна, если противник находится рядом.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7452360" y="374004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3. Телепорт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Зелёная клетка переносит игрока на случайную позицию.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7452360" y="4901040"/>
            <a:ext cx="3838320" cy="91224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noProof="1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4. Победа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После обнуления HP выводится сообщение о победителе.</a:t>
            </a:r>
            <a:endParaRPr lang="ru-RU" sz="14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noProof="0" dirty="0">
                <a:effectLst/>
                <a:uFillTx/>
                <a:latin typeface="Arial"/>
                <a:ea typeface="Arial"/>
              </a:rPr>
              <a:t>Сценарий тестирования</a:t>
            </a:r>
            <a:endParaRPr lang="ru-RU" sz="2700" b="0" u="none" strike="noStrike" noProof="0" dirty="0"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0" u="none" strike="noStrike" noProof="0" dirty="0">
                <a:effectLst/>
                <a:uFillTx/>
                <a:latin typeface="Arial"/>
                <a:ea typeface="Arial"/>
              </a:rPr>
              <a:t>Этап тестировщика — полный пользовательский путь</a:t>
            </a:r>
            <a:endParaRPr lang="ru-RU" sz="1250" b="0" u="none" strike="noStrike" noProof="0" dirty="0"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640080" y="1417320"/>
            <a:ext cx="3472560" cy="127800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noProof="0" dirty="0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Шаг 1–2</a:t>
            </a:r>
            <a:endParaRPr lang="ru-RU" sz="15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500" b="0" u="none" strike="noStrike" noProof="0" dirty="0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Запустить программу и ввести размеры поля, имена, атаку и здоровье игроков.</a:t>
            </a:r>
            <a:endParaRPr lang="ru-RU" sz="15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4343400" y="1417320"/>
            <a:ext cx="3472560" cy="1278000"/>
          </a:xfrm>
          <a:prstGeom prst="rect">
            <a:avLst/>
          </a:prstGeom>
          <a:solidFill>
            <a:srgbClr val="232745"/>
          </a:solidFill>
          <a:ln w="13970">
            <a:solidFill>
              <a:srgbClr val="FF6B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noProof="0" dirty="0">
                <a:solidFill>
                  <a:srgbClr val="FF6B4A"/>
                </a:solidFill>
                <a:effectLst/>
                <a:uFillTx/>
                <a:latin typeface="Arial"/>
                <a:ea typeface="Arial"/>
              </a:rPr>
              <a:t>Шаг 3–4</a:t>
            </a:r>
            <a:endParaRPr lang="ru-RU" sz="15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500" b="0" u="none" strike="noStrike" noProof="0" dirty="0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Начать игру, проверить создание поля, случайную расстановку, перемещения и атаку.</a:t>
            </a:r>
            <a:endParaRPr lang="ru-RU" sz="15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046720" y="1417320"/>
            <a:ext cx="3472560" cy="127800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noProof="0" dirty="0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Шаг 5–6</a:t>
            </a:r>
            <a:endParaRPr lang="ru-RU" sz="15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500" b="0" u="none" strike="noStrike" noProof="0" dirty="0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Проверить телепорт, журнал событий, победителя и кнопку новой игры.</a:t>
            </a:r>
            <a:endParaRPr lang="ru-RU" sz="15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/mnt/data/pres_assets/crop_setup.png"/>
          <p:cNvPicPr/>
          <p:nvPr/>
        </p:nvPicPr>
        <p:blipFill>
          <a:blip r:embed="rId3"/>
          <a:stretch/>
        </p:blipFill>
        <p:spPr>
          <a:xfrm>
            <a:off x="786960" y="2926080"/>
            <a:ext cx="3407400" cy="264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 1" descr="/mnt/data/pres_assets/crop_game.png"/>
          <p:cNvPicPr/>
          <p:nvPr/>
        </p:nvPicPr>
        <p:blipFill>
          <a:blip r:embed="rId4"/>
          <a:stretch/>
        </p:blipFill>
        <p:spPr>
          <a:xfrm>
            <a:off x="4892400" y="2926080"/>
            <a:ext cx="1597680" cy="264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 2" descr="/mnt/data/pres_assets/crop_attack.png"/>
          <p:cNvPicPr/>
          <p:nvPr/>
        </p:nvPicPr>
        <p:blipFill>
          <a:blip r:embed="rId5"/>
          <a:stretch/>
        </p:blipFill>
        <p:spPr>
          <a:xfrm>
            <a:off x="7675200" y="2926080"/>
            <a:ext cx="2981160" cy="2649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noProof="1">
                <a:effectLst/>
                <a:uFillTx/>
                <a:latin typeface="Arial"/>
                <a:ea typeface="Arial"/>
              </a:rPr>
              <a:t>Заключение</a:t>
            </a:r>
            <a:endParaRPr lang="ru-RU" sz="270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0" u="none" strike="noStrike" noProof="1">
                <a:effectLst/>
                <a:uFillTx/>
                <a:latin typeface="Arial"/>
                <a:ea typeface="Arial"/>
              </a:rPr>
              <a:t>Итог работы и тестиро</a:t>
            </a:r>
            <a:r>
              <a:rPr lang="ru-RU" sz="1250" noProof="1">
                <a:latin typeface="Arial"/>
                <a:ea typeface="Arial"/>
              </a:rPr>
              <a:t>ка</a:t>
            </a:r>
            <a:endParaRPr lang="ru-RU" sz="1250" b="0" u="none" strike="noStrike" noProof="1"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640080" y="1417320"/>
            <a:ext cx="5484240" cy="1918080"/>
          </a:xfrm>
          <a:prstGeom prst="rect">
            <a:avLst/>
          </a:prstGeom>
          <a:solidFill>
            <a:srgbClr val="232745"/>
          </a:solidFill>
          <a:ln w="1397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noProof="1">
                <a:solidFill>
                  <a:srgbClr val="4A9EFF"/>
                </a:solidFill>
                <a:effectLst/>
                <a:uFillTx/>
                <a:latin typeface="Arial"/>
                <a:ea typeface="Arial"/>
              </a:rPr>
              <a:t>Основной вывод</a:t>
            </a:r>
            <a:endParaRPr lang="ru-RU" sz="16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60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Я реализовала учебный GUI-проект на Python/Tkinter. Основной функционал работает корректно: настройка, игровое поле, ходы, атака, журнал событий и новая игра.</a:t>
            </a:r>
            <a:endParaRPr lang="ru-RU" sz="16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650520" y="3722040"/>
            <a:ext cx="1689480" cy="957960"/>
          </a:xfrm>
          <a:prstGeom prst="rect">
            <a:avLst/>
          </a:prstGeom>
          <a:solidFill>
            <a:srgbClr val="232745"/>
          </a:solidFill>
          <a:ln w="13970">
            <a:solidFill>
              <a:srgbClr val="3DBB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350" b="1" u="none" strike="noStrike" noProof="1">
                <a:solidFill>
                  <a:srgbClr val="3DBB7B"/>
                </a:solidFill>
                <a:effectLst/>
                <a:uFillTx/>
                <a:latin typeface="Arial"/>
                <a:ea typeface="Arial"/>
              </a:rPr>
              <a:t>Сильная сторона</a:t>
            </a:r>
            <a:endParaRPr lang="ru-RU" sz="135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5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наглядный интерфейс</a:t>
            </a:r>
            <a:endParaRPr lang="ru-RU" sz="135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2810520" y="3722040"/>
            <a:ext cx="1689480" cy="957960"/>
          </a:xfrm>
          <a:prstGeom prst="rect">
            <a:avLst/>
          </a:prstGeom>
          <a:solidFill>
            <a:srgbClr val="232745"/>
          </a:solidFill>
          <a:ln w="13970">
            <a:solidFill>
              <a:srgbClr val="D5B7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350" b="1" u="none" strike="noStrike" noProof="1">
                <a:solidFill>
                  <a:srgbClr val="D5B74F"/>
                </a:solidFill>
                <a:effectLst/>
                <a:uFillTx/>
                <a:latin typeface="Arial"/>
                <a:ea typeface="Arial"/>
              </a:rPr>
              <a:t>Вывод</a:t>
            </a:r>
            <a:endParaRPr lang="ru-RU" sz="135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50" b="0" u="none" strike="noStrike" noProof="1">
                <a:solidFill>
                  <a:srgbClr val="EEF1FF"/>
                </a:solidFill>
                <a:effectLst/>
                <a:uFillTx/>
                <a:latin typeface="Arial"/>
                <a:ea typeface="Arial"/>
              </a:rPr>
              <a:t>проект готов к защите</a:t>
            </a:r>
            <a:endParaRPr lang="ru-RU" sz="135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"/>
          <p:cNvSpPr/>
          <p:nvPr/>
        </p:nvSpPr>
        <p:spPr>
          <a:xfrm>
            <a:off x="502920" y="255960"/>
            <a:ext cx="11155680" cy="360"/>
          </a:xfrm>
          <a:prstGeom prst="line">
            <a:avLst/>
          </a:prstGeom>
          <a:ln w="15240">
            <a:solidFill>
              <a:srgbClr val="4A9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48640" y="411480"/>
            <a:ext cx="7587360" cy="38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548640" y="84132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658440" y="3749040"/>
            <a:ext cx="438696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 noProof="1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Прямоугольник 105"/>
          <p:cNvSpPr/>
          <p:nvPr/>
        </p:nvSpPr>
        <p:spPr>
          <a:xfrm>
            <a:off x="3960000" y="2700000"/>
            <a:ext cx="4139280" cy="161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 noProof="1">
                <a:effectLst/>
                <a:uFillTx/>
                <a:latin typeface="Arial"/>
                <a:ea typeface="Arial"/>
              </a:rPr>
              <a:t>Спасибо за внимание!</a:t>
            </a:r>
            <a:endParaRPr lang="ru-RU" sz="2700" b="0" u="none" strike="noStrike" noProof="1"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480</Words>
  <Application>Microsoft Office PowerPoint</Application>
  <PresentationFormat>Широкоэкранный</PresentationFormat>
  <Paragraphs>97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Consolas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Битва на сетке</dc:title>
  <dc:subject>Презентация проекта Битва на сетке</dc:subject>
  <dc:creator>OpenAI</dc:creator>
  <dc:description/>
  <cp:lastModifiedBy>Иван Соловьев</cp:lastModifiedBy>
  <cp:revision>9</cp:revision>
  <dcterms:created xsi:type="dcterms:W3CDTF">2026-04-07T10:03:07Z</dcterms:created>
  <dcterms:modified xsi:type="dcterms:W3CDTF">2026-06-16T15:02:10Z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